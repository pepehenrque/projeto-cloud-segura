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Apresentação conjunta. Introdução rápida da equipe e apresentação do objetivo da atividade.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DO EMANUEL: Explicar o contexto da empresa. A aplicação possui interface, API, banco e arquivos. O desafio era migrar tudo para a nuvem garantindo que nenhum componente interno ficasse desnecessariamente exposto à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DO EMANUEL: Apresentar o diagrama macro. Destacar que os clientes nunca falam diretamente com os servidores internos. Toda requisição entra pela borda e flui por camadas controladas.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DO VITOR: Explicar a borda. Mostrar como o WAF filtra requisições maliciosas e destacar o mecanismo do cabeçalho secreto, que impede que qualquer um descubra o ALB e passe por cima do WAF.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DO VITOR: Detalhar a VPC 10.0.0.0/16 e as 3 camadas em 2 AZs. Ressaltar que a sub-rede de banco não possui gateway nem rota para fora, garantindo que o banco de dados nunca seja alcançado pela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DO PEDRO: Explicar o processamento e o storage. Destacar por que o Fargate foi escolhido (elimina manutenção de SO) e como o VPC Gateway Endpoint fecha o acesso ao S3 apenas para dentro da VPC.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DO PEDRO: Apresentar a lógica dos Security Groups encadeados. Explicar que usar referências de SG evita regras frágeis com IPs estáticos e garante menor privilégio na rede.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DO RICARDO: Explicar por que descartamos Bastion Hosts. A VPN cliente com MFA é muito mais segura, elimina servidores intermediários e garante auditoria centralizada no Identity Center.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DO RICARDO: Abordar a gestão de identidade e auditoria. Destacar o Secrets Manager (sem senhas em texto claro) e o S3 Object Lock, que impede que invasores apaguem registros de auditoria.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TODOS: Encerramento do trabalho. Agradecer a atenção e abrir para os questionamentos do professor/banca.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4114800" cy="411480"/>
          </a:xfrm>
          <a:prstGeom prst="roundRect">
            <a:avLst/>
          </a:prstGeom>
          <a:solidFill>
            <a:srgbClr val="143250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SEGURANÇA CLOUD: IAM, REDES E BOAS PRÁTICAS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Projetar uma Arquitetura Cloud Segura</a:t>
            </a:r>
          </a:p>
          <a:p>
            <a:pPr>
              <a:spcBef>
                <a:spcPts val="1000"/>
              </a:spcBef>
              <a:defRPr sz="1800">
                <a:solidFill>
                  <a:srgbClr val="FF9900"/>
                </a:solidFill>
              </a:defRPr>
            </a:pPr>
            <a:r>
              <a:t>Migração de Aplicação Web com Isolamento, Menor Privilégio e Observabilidade na 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4A3B8"/>
                </a:solidFill>
              </a:defRPr>
            </a:pPr>
            <a:r>
              <a:t>INTEGRANTES DA EQUIPE: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246888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👤 Pedro Henrique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4572000"/>
            <a:ext cx="246888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👤 Emanuel Gondim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4572000"/>
            <a:ext cx="246888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👤 Ricardo Silva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4572000"/>
            <a:ext cx="246888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👤 Vitor Marques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01. O Cenário &amp; O Desafio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Contexto de migração corporativa e requisitos fundamentais de segurança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411480"/>
            <a:ext cx="2468880" cy="502920"/>
          </a:xfrm>
          <a:prstGeom prst="roundRect">
            <a:avLst/>
          </a:prstGeom>
          <a:solidFill>
            <a:srgbClr val="232D41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F9900"/>
                </a:solidFill>
              </a:defRPr>
            </a:pPr>
            <a:r>
              <a:t>FALA: EMANUEL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2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🏢 A Aplicação da Empresa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Interface Web: Frontend para acesso dos usuários via internet.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API de Negócio: Processamento de requisições e regras da aplicação.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Banco de Dados: Armazenamento persistente de informações sensíveis.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Upload de Arquivos: Envio e recuperação de anexos por clientes.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Operação Interna: Necessidade de manutenção segura pela equipe técnica.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9900"/>
                </a:solidFill>
              </a:defRPr>
            </a:pPr>
            <a:r>
              <a:t>🎯 O Desafio de Segurança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Risco Crítico: Jamais expor o banco de dados ou a API diretamente à internet.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Ameaças Web: Bloqueio de injeções SQL (SQLi), Cross-Site Scripting (XSS) e bots.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Acesso Administrativo: Eliminar portas de gerenciamento vulneráveis (SSH/RDP).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Menor Privilégio: Permissões mínimas para serviços e operadores.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Solução Central: Arquitetura baseada em Defesa em Profundidade.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02. Visão Geral da Arquitetura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Entrada única protegida, isolamento perimetral e alta disponibilidade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411480"/>
            <a:ext cx="2468880" cy="502920"/>
          </a:xfrm>
          <a:prstGeom prst="roundRect">
            <a:avLst/>
          </a:prstGeom>
          <a:solidFill>
            <a:srgbClr val="232D41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F9900"/>
                </a:solidFill>
              </a:defRPr>
            </a:pPr>
            <a:r>
              <a:t>FALA: EMANUEL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3 / 10</a:t>
            </a:r>
          </a:p>
        </p:txBody>
      </p:sp>
      <p:pic>
        <p:nvPicPr>
          <p:cNvPr id="6" name="Picture 5" descr="arquitetura-cloud-seg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360534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9520" y="1645920"/>
            <a:ext cx="38404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Pilares da Solução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Borda Única: CloudFront + WAF absorvem 100% do tráfego externo.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VPC 3-Tier: Sub-redes Públicas, Privadas de App e Privadas de Dados.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Alta Disponibilidade: Replicado em 2 Availability Zones (AZ-A e AZ-B).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PaaS / Serverless: ECS Fargate e RDS Multi-AZ eliminam gestão de SO.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Acesso Privado: VPC Gateway Endpoint para o S3.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Túnel Administrativo: AWS Client VPN com MFA obrigatório.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03. Borda &amp; Proteção da Aplicação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Tráfego HTTPS obrigatório, mitigação WAF e integridade da origem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411480"/>
            <a:ext cx="2468880" cy="502920"/>
          </a:xfrm>
          <a:prstGeom prst="roundRect">
            <a:avLst/>
          </a:prstGeom>
          <a:solidFill>
            <a:srgbClr val="232D41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F9900"/>
                </a:solidFill>
              </a:defRPr>
            </a:pPr>
            <a:r>
              <a:t>FALA: VITOR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4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🛡️ Defesa de Borda (Edge)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Amazon Route 53: DNS gerenciado com registro Alias apontando para o CloudFront.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Amazon CloudFront: Distribuição global, terminação TLS 1.2+ na borda e cache de assets.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AWS Certificate Manager (ACM): Emissão e renovação automática de certificados SSL/TLS.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AWS WAF: Proteção ativa contra OWASP Top 10, IP reputation e mitigação de DDoS com AWS Shield.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9900"/>
                </a:solidFill>
              </a:defRPr>
            </a:pPr>
            <a:r>
              <a:t>🔐 Mecanismo Anti-Bypass do ALB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Problema: Como impedir que alguém acesse o Load Balancer diretamente pelo IP ou DNS?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Security Group do ALB: Aceita porta 443 apenas do Prefix List oficial da AWS do CloudFront.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Cabeçalho HTTP Secreto: O CloudFront injeta um header secreto com valor no Secrets Manager.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Validação no ALB: O ALB valida o cabeçalho e descarta sumariamente conexões diretas.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04. Rede (VPC) &amp; Sub-redes em 3 Camadas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Segregação estrita de privilégios de tráfego em duas Availability Zones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411480"/>
            <a:ext cx="2468880" cy="502920"/>
          </a:xfrm>
          <a:prstGeom prst="roundRect">
            <a:avLst/>
          </a:prstGeom>
          <a:solidFill>
            <a:srgbClr val="232D41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F9900"/>
                </a:solidFill>
              </a:defRPr>
            </a:pPr>
            <a:r>
              <a:t>FALA: VITOR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5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1. Sub-redes Públicas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CIDR: 10.0.1.0/24 e 10.0.2.0/24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Componentes: ALB e NAT Gateways.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Roteamento: 0.0.0.0/0 via Internet Gateway (IGW).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Finalidade: Receber tráfego do CloudFront e permitir saída das apps privadas.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2. Privadas (Aplicação)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CIDR: 10.0.11.0/24 e 10.0.12.0/24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Componentes: ECS Fargate e VPC Endpoints.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Roteamento: Saída para internet via NAT Gateway (somente saída).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Sem IP Público: Apenas aceita tráfego do ALB e da VPN administrativa.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9900"/>
                </a:solidFill>
              </a:defRPr>
            </a:pPr>
            <a:r>
              <a:t>3. Privadas (Dados)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CIDR: 10.0.21.0/24 e 10.0.22.0/24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Componentes: RDS PostgreSQL Multi-AZ.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Roteamento: ZERO rota para a internet (sem NAT e sem IGW).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Isolamento Total: Comunica-se exclusivamente com a camada de aplicação.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05. Processamento &amp; Armazenamento Seguro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Arquitetura serverless gerenciada e tráfego privado de dados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411480"/>
            <a:ext cx="2468880" cy="502920"/>
          </a:xfrm>
          <a:prstGeom prst="roundRect">
            <a:avLst/>
          </a:prstGeom>
          <a:solidFill>
            <a:srgbClr val="232D41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F9900"/>
                </a:solidFill>
              </a:defRPr>
            </a:pPr>
            <a:r>
              <a:t>FALA: PEDRO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6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⚙️ Amazon ECS Fargate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Sem Servidores Operacionais: Elimina patches de SO e portas SSH.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Menor Superfície de Ataque: Apenas o contêiner da aplicação em execução.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Escalabilidade Automática: Tarefas sob demanda distribuídas entre as duas AZs.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Identidade Segura: Cada tarefa assume uma IAM Task Role com privilégio mínimo.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🗄️ RDS PostgreSQL Multi-AZ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Alta Disponibilidade: Instância primária na AZ-A e standby síncrona na AZ-B.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Failover Automático: Recuperação transparente em caso de desastre.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Criptografia em Repouso: Volumes EBS criptografados com AWS KMS.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Criptografia em Trânsito: Conexões obrigatoriamente exigem TLS (5432).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9900"/>
                </a:solidFill>
              </a:defRPr>
            </a:pPr>
            <a:r>
              <a:t>📁 S3 &amp; VPC Gateway Endpoint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Armazenamento de Objetos: Arquivos enviados por usuários.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Block Public Access: Bloqueio irrestrito de qualquer leitura pública.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VPC Gateway Endpoint: O tráfego ECS → S3 não sai para a internet.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Bucket Policy Estrita: Negação explícita de requisições fora do Endpoint.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06. Fluxos de Rede &amp; Firewalls (SGs e NACLs)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Encadeamento por referência de grupos de segurança e bloqueios explícitos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411480"/>
            <a:ext cx="2468880" cy="502920"/>
          </a:xfrm>
          <a:prstGeom prst="roundRect">
            <a:avLst/>
          </a:prstGeom>
          <a:solidFill>
            <a:srgbClr val="232D41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F9900"/>
                </a:solidFill>
              </a:defRPr>
            </a:pPr>
            <a:r>
              <a:t>FALA: PEDRO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7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🔗 Encadeamento de Security Groups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sg-alb: Aceita apenas porta 443 do Prefix List do CloudFront → Envia 8080 para o sg-app.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sg-app: Aceita porta 8080 apenas de sg-alb e da VPN → Envia 5432 para o sg-db.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sg-db: Aceita porta 5432 apenas de sg-app e da VPN.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Vantagem Crucial: As regras referenciam IDs de SGs e não IPs dinâmicos das tarefas.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87171"/>
                </a:solidFill>
              </a:defRPr>
            </a:pPr>
            <a:r>
              <a:t>🚫 Conexões Bloqueadas Explicitamente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Internet → ALB direto: Bloqueado pelo SG e pela validação do cabeçalho secreto.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Internet → ECS / RDS: Bloqueado (sem IP público, sem rota no IGW).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Sub-rede Pública → RDS: Bloqueado no sg-db e nas NACLs de dados.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Portas SSH (22) e RDP (3389): Bloqueadas em todas as NACLs e SGs.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Internet → Bucket S3: Bloqueado por Block Public Access e Bucket Policy.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07. Acesso Administrativo Sem Bastion Host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Túnel corporativo seguro com autenticação federada e MFA obrigatório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411480"/>
            <a:ext cx="2468880" cy="502920"/>
          </a:xfrm>
          <a:prstGeom prst="roundRect">
            <a:avLst/>
          </a:prstGeom>
          <a:solidFill>
            <a:srgbClr val="232D41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F9900"/>
                </a:solidFill>
              </a:defRPr>
            </a:pPr>
            <a:r>
              <a:t>FALA: RICARDO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8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87171"/>
                </a:solidFill>
              </a:defRPr>
            </a:pPr>
            <a:r>
              <a:t>❌ Por que NÃO usar Bastion Host (SSH)?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Servidor Exposto: Exige máquina EC2 pública com porta 22 (SSH) aberta para a internet.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Vetor de Ataque: Alvo constante de scanners e ataques de força bruta.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Gestão Frágil de Chaves: Arquivos .pem compartilhados e difíceis de auditar.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Manutenção Operacional: Necessidade de aplicar patches de segurança no SO do bastion.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4ADE80"/>
                </a:solidFill>
              </a:defRPr>
            </a:pPr>
            <a:r>
              <a:t>✅ A Solução: AWS Client VPN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Autenticação Federada: Integrada ao IAM Identity Center com MFA obrigatório.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Autorização Baseada em Grupos: Apenas membros de 'Administradores' têm rota liberada.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Criptografia Ponta a Ponta: Túnel OpenVPN sobre TLS.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Sem Portas Abertas: Nenhuma porta de entrada pública aberta na VPC.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Rastreabilidade: Logs de conexão detalhados registrados no CloudWatch.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08. Menor Privilégio &amp; Observabilidade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Gestão de credenciais dinâmicas e monitoramento contínuo de segurança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411480"/>
            <a:ext cx="2468880" cy="502920"/>
          </a:xfrm>
          <a:prstGeom prst="roundRect">
            <a:avLst/>
          </a:prstGeom>
          <a:solidFill>
            <a:srgbClr val="232D41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F9900"/>
                </a:solidFill>
              </a:defRPr>
            </a:pPr>
            <a:r>
              <a:t>FALA: RICARDO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9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🔑 Menor Privilégio &amp; Credenciais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AWS Secrets Manager: Senha do banco armazenada com rotação automática programada.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Zero Senhas no Código: A aplicação busca a credencial em tempo de execução via VPC Endpoint.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IAM Task Roles: Contêineres ECS usam permissões temporárias de curta duração.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IAM Identity Center: Acesso administrativo temporário, revogável instantaneamente.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9900"/>
                </a:solidFill>
              </a:defRPr>
            </a:pPr>
            <a:r>
              <a:t>👁️ Auditoria &amp; Monitoramento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AWS CloudTrail: Rastreia 100% das chamadas de API (quem, quando, onde).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VPC Flow Logs: Telemetria de rede de todos os pacotes aceitos e rejeitados.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Amazon GuardDuty: Detecção de ameaças e comportamento anômalo com IA.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S3 com Object Lock: Logs mantidos no modelo WORM (imutáveis), impossíveis de apagar.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09. Conclusão &amp; Resumo Técnico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Alinhamento integral com o Well-Architected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411480"/>
            <a:ext cx="2468880" cy="502920"/>
          </a:xfrm>
          <a:prstGeom prst="roundRect">
            <a:avLst/>
          </a:prstGeom>
          <a:solidFill>
            <a:srgbClr val="232D41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F9900"/>
                </a:solidFill>
              </a:defRPr>
            </a:pPr>
            <a:r>
              <a:t>FALA: TODOS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10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🛡️ Isolamento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Zero componentes de backend expostos à internet.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Três camadas de sub-redes em duas AZs.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645920"/>
            <a:ext cx="246888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🔒 Defesa Fundo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WAF na borda.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SGs encadeados.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Cabeçalho secreto.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VPC Endpoints.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645920"/>
            <a:ext cx="246888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⚡ Resiliência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Multi-AZ ativo/standby.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ECS Fargate auto-scaling.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Sem servidores manuais.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1645920"/>
            <a:ext cx="246888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📜 Conformidade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Auditoria CloudTrail.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Logs imutáveis.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Secrets Manager.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VPN com MFA.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20640"/>
            <a:ext cx="10424160" cy="1097280"/>
          </a:xfrm>
          <a:prstGeom prst="roundRect">
            <a:avLst/>
          </a:prstGeom>
          <a:solidFill>
            <a:srgbClr val="192337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9900"/>
                </a:solidFill>
              </a:defRPr>
            </a:pPr>
            <a:r>
              <a:t>Obrigado! Estamos abertos às perguntas da banca avaliadora.</a:t>
            </a:r>
          </a:p>
          <a:p>
            <a:pPr algn="ctr"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Pedro Henrique · Emanuel Gondim · Ricardo Silva · Vitor Marques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